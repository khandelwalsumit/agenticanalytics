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ATT Rewards &amp; Loyalty Friction Analysis Report</a:t>
            </a:r>
          </a:p>
        </p:txBody>
      </p:sp>
      <p:sp>
        <p:nvSpPr>
          <p:cNvPr id="3" name="Content Placeholder 2"/>
          <p:cNvSpPr>
            <a:spLocks noGrp="1"/>
          </p:cNvSpPr>
          <p:nvPr>
            <p:ph idx="1"/>
          </p:nvPr>
        </p:nvSpPr>
        <p:spPr/>
        <p:txBody>
          <a:bodyPr/>
          <a:lstStyle/>
          <a:p>
            <a:pPr algn="l"/>
            <a:r>
              <a:rPr sz="1400">
                <a:solidFill>
                  <a:srgbClr val="333333"/>
                </a:solidFill>
              </a:rPr>
              <a:t>Analysis of 16 calls related to Rewards &amp; Loyalty for ATT customers reveals a single, highly impactful theme. This theme is 100% preventable and is primarily driven by digital friction, with significant contributions from operations, communication, and policy gaps. The top three issues by call volume are redemption preference confusion: 7 calls, 43.75%; incorrect category bonus application: 4 calls, 25.0%; and welcome bonus discrepancies: 2 calls, 12.5%. The dominant driver for these issues is digital friction, with operations, communication, and policy also contributing. A total of 12 quick wins were identified.</a:t>
            </a:r>
          </a:p>
          <a:p>
            <a:pPr algn="l"/>
            <a:r>
              <a:rPr sz="1400">
                <a:solidFill>
                  <a:srgbClr val="333333"/>
                </a:solidFill>
              </a:rPr>
              <a:t>| Theme | Impact | Ease | Priority | Quadrant |</a:t>
            </a:r>
          </a:p>
          <a:p>
            <a:pPr algn="l"/>
            <a:r>
              <a:rPr sz="1400">
                <a:solidFill>
                  <a:srgbClr val="333333"/>
                </a:solidFill>
              </a:rPr>
              <a:t>|---|---|---|---|---|</a:t>
            </a:r>
          </a:p>
          <a:p>
            <a:pPr algn="l"/>
            <a:r>
              <a:rPr sz="1400">
                <a:solidFill>
                  <a:srgbClr val="333333"/>
                </a:solidFill>
              </a:rPr>
              <a:t>| Rewards &amp; Loyalty | 8.0 | 6.7 | 7.48 | strategic_investment |</a:t>
            </a:r>
          </a:p>
          <a:p>
            <a:pPr algn="l"/>
            <a:r>
              <a:rPr sz="1400">
                <a:solidFill>
                  <a:srgbClr val="333333"/>
                </a:solidFill>
              </a:rPr>
              <a:t>### Digital</a:t>
            </a:r>
          </a:p>
          <a:p>
            <a:pPr algn="l"/>
            <a:r>
              <a:rPr sz="1400">
                <a:solidFill>
                  <a:srgbClr val="333333"/>
                </a:solidFill>
              </a:rPr>
              <a:t>Develop a clear and easily discoverable section in the digital experience (mobile app and web) where customers can view and modify their rewards redemption preferences (e.g., points vs. cashback).</a:t>
            </a:r>
          </a:p>
          <a:p>
            <a:pPr algn="l"/>
            <a:r>
              <a:rPr sz="1400">
                <a:solidFill>
                  <a:srgbClr val="333333"/>
                </a:solidFill>
              </a:rPr>
              <a:t>Enhance transparency around merchant category codes and their mapping to bonus categories within the digital experience.</a:t>
            </a:r>
          </a:p>
          <a:p>
            <a:pPr algn="l"/>
            <a:r>
              <a:rPr sz="1400">
                <a:solidFill>
                  <a:srgbClr val="333333"/>
                </a:solidFill>
              </a:rPr>
              <a:t>Improve the visibility and tracking of promotional offer progress and terms within the digital experience.</a:t>
            </a:r>
          </a:p>
          <a:p>
            <a:pPr algn="l"/>
            <a:r>
              <a:rPr sz="1400">
                <a:solidFill>
                  <a:srgbClr val="333333"/>
                </a:solidFill>
              </a:rPr>
              <a:t>Implement proactive communication and visibility for upcoming tier status changes within the digital experience.</a:t>
            </a:r>
          </a:p>
          <a:p>
            <a:pPr algn="l"/>
            <a:r>
              <a:rPr sz="1400">
                <a:solidFill>
                  <a:srgbClr val="333333"/>
                </a:solidFill>
              </a:rPr>
              <a:t>Provide visibility into expected and pending bonus point accruals within the digital experience.</a:t>
            </a:r>
          </a:p>
          <a:p>
            <a:pPr algn="l"/>
            <a:r>
              <a:rPr sz="1400">
                <a:solidFill>
                  <a:srgbClr val="333333"/>
                </a:solidFill>
              </a:rPr>
              <a:t>Implement a digital tracking mechanism for points transfers to external partners.</a:t>
            </a:r>
          </a:p>
          <a:p>
            <a:pPr algn="l"/>
            <a:r>
              <a:rPr sz="1400">
                <a:solidFill>
                  <a:srgbClr val="333333"/>
                </a:solidFill>
              </a:rPr>
              <a:t>### Operations</a:t>
            </a:r>
          </a:p>
          <a:p>
            <a:pPr algn="l"/>
            <a:r>
              <a:rPr sz="1400">
                <a:solidFill>
                  <a:srgbClr val="333333"/>
                </a:solidFill>
              </a:rPr>
              <a:t>Develop and deploy a user-friendly self-service interface within the mobile app and web portal for customers to easily manage and update their rewards redemption preferences.</a:t>
            </a:r>
          </a:p>
          <a:p>
            <a:pPr algn="l"/>
            <a:r>
              <a:rPr sz="1400">
                <a:solidFill>
                  <a:srgbClr val="333333"/>
                </a:solidFill>
              </a:rPr>
              <a:t>Enhance the rewards system to provide clear visibility into how merchant categories are mapped to bonus earning categories, and offer a mechanism for customers to query or dispute MCC assignments.</a:t>
            </a:r>
          </a:p>
          <a:p>
            <a:pPr algn="l"/>
            <a:r>
              <a:rPr sz="1400">
                <a:solidFill>
                  <a:srgbClr val="333333"/>
                </a:solidFill>
              </a:rPr>
              <a:t>Implement a robust audit and reconciliation process for promotional bonus crediting to ensure that all qualifying customers receive the correct bonus amount as per offer terms.</a:t>
            </a:r>
          </a:p>
          <a:p>
            <a:pPr algn="l"/>
            <a:r>
              <a:rPr sz="1400">
                <a:solidFill>
                  <a:srgbClr val="333333"/>
                </a:solidFill>
              </a:rPr>
              <a:t>Establish a clear communication protocol for tier changes, including sending proactive notifications (e.g., email, push notifications) to customers well in advance of any downgrade, explaining the reasons and impact.</a:t>
            </a:r>
          </a:p>
          <a:p>
            <a:pPr algn="l"/>
            <a:r>
              <a:rPr sz="1400">
                <a:solidFill>
                  <a:srgbClr val="333333"/>
                </a:solidFill>
              </a:rPr>
              <a:t>Automate the process for crediting anniversary bonus points to ensure they are posted to customer accounts within a defined and communicated service level agreement (SLA).</a:t>
            </a:r>
          </a:p>
          <a:p>
            <a:pPr algn="l"/>
            <a:r>
              <a:rPr sz="1400">
                <a:solidFill>
                  <a:srgbClr val="333333"/>
                </a:solidFill>
              </a:rPr>
              <a:t>Review and optimize the integration and data exchange processes with airline partners to ensure points transfers are processed and reflected in partner accounts within a clear and competitive SLA.</a:t>
            </a:r>
          </a:p>
          <a:p>
            <a:pPr algn="l"/>
            <a:r>
              <a:rPr sz="1400">
                <a:solidFill>
                  <a:srgbClr val="333333"/>
                </a:solidFill>
              </a:rPr>
              <a:t>### Communication</a:t>
            </a:r>
          </a:p>
          <a:p>
            <a:pPr algn="l"/>
            <a:r>
              <a:rPr sz="1400">
                <a:solidFill>
                  <a:srgbClr val="333333"/>
                </a:solidFill>
              </a:rPr>
              <a:t>Move cashback redemption preference setting to a prominent, easily accessible location (e.g., top-level rewards settings). Add a 'Set as default' option and allow customers to set auto-redemption rules (e.g., auto statement credit every 5,000 points).</a:t>
            </a:r>
          </a:p>
          <a:p>
            <a:pPr algn="l"/>
            <a:r>
              <a:rPr sz="1400">
                <a:solidFill>
                  <a:srgbClr val="333333"/>
                </a:solidFill>
              </a:rPr>
              <a:t>Display the MCC code and category assigned to each transaction. Allow customers to flag incorrect merchant categorization. Clearly list category bonus exclusions with examples on the rewards earning rules page.</a:t>
            </a:r>
          </a:p>
          <a:p>
            <a:pPr algn="l"/>
            <a:r>
              <a:rPr sz="1400">
                <a:solidFill>
                  <a:srgbClr val="333333"/>
                </a:solidFill>
              </a:rPr>
              <a:t>Add a real-time welcome bonus spend tracker on the rewards dashboard with a progress bar and days remaining. List qualifying and non-qualifying purchase categories clearly with specific merchant examples.</a:t>
            </a:r>
          </a:p>
          <a:p>
            <a:pPr algn="l"/>
            <a:r>
              <a:rPr sz="1400">
                <a:solidFill>
                  <a:srgbClr val="333333"/>
                </a:solidFill>
              </a:rPr>
              <a:t>Show a tier progress bar with the exact spend needed for retention/upgrade. Send 90-day and 30-day tier expiry warnings. List all tier benefits clearly with real-time access status (active/at risk).</a:t>
            </a:r>
          </a:p>
          <a:p>
            <a:pPr algn="l"/>
            <a:r>
              <a:rPr sz="1400">
                <a:solidFill>
                  <a:srgbClr val="333333"/>
                </a:solidFill>
              </a:rPr>
              <a:t>Display the anniversary bonus posting timeline and account anniversary date prominently in the rewards section. Send a push notification when the anniversary bonus is credited or if there's a delay.</a:t>
            </a:r>
          </a:p>
          <a:p>
            <a:pPr algn="l"/>
            <a:r>
              <a:rPr sz="1400">
                <a:solidFill>
                  <a:srgbClr val="333333"/>
                </a:solidFill>
              </a:rPr>
              <a:t>Show a merchant earning rate preview on each transaction. Display bonus category progress on the main rewards dashboard. Add a real-time earn rate indicator on transaction detail screens with a qualifying merchant badge.</a:t>
            </a:r>
          </a:p>
          <a:p>
            <a:pPr algn="l"/>
            <a:r>
              <a:rPr sz="1400">
                <a:solidFill>
                  <a:srgbClr val="333333"/>
                </a:solidFill>
              </a:rPr>
              <a:t>Show estimated partner transfer completion time and partner program confirmation. Add a transfer tracker. Display a clear irreversibility warning with partner program terms before confirming the transfer.</a:t>
            </a:r>
          </a:p>
          <a:p>
            <a:pPr algn="l"/>
            <a:r>
              <a:rPr sz="1400">
                <a:solidFill>
                  <a:srgbClr val="333333"/>
                </a:solidFill>
              </a:rPr>
              <a:t>### Policy</a:t>
            </a:r>
          </a:p>
          <a:p>
            <a:pPr algn="l"/>
            <a:r>
              <a:rPr sz="1400">
                <a:solidFill>
                  <a:srgbClr val="333333"/>
                </a:solidFill>
              </a:rPr>
              <a:t>Review the internal rule that dictates the default redemption method and the accessibility of changing this preference.</a:t>
            </a:r>
          </a:p>
          <a:p>
            <a:pPr algn="l"/>
            <a:r>
              <a:rPr sz="1400">
                <a:solidFill>
                  <a:srgbClr val="333333"/>
                </a:solidFill>
              </a:rPr>
              <a:t>Review the internal policy on how merchant category codes are mapped to bonus categories and the transparency provided to customers.</a:t>
            </a:r>
          </a:p>
          <a:p>
            <a:pPr algn="l"/>
            <a:r>
              <a:rPr sz="1400">
                <a:solidFill>
                  <a:srgbClr val="333333"/>
                </a:solidFill>
              </a:rPr>
              <a:t>Review the internal rules and compliance requirements for promotional offer crediting and communication of terms.</a:t>
            </a:r>
          </a:p>
          <a:p>
            <a:pPr algn="l"/>
            <a:r>
              <a:rPr sz="1400">
                <a:solidFill>
                  <a:srgbClr val="333333"/>
                </a:solidFill>
              </a:rPr>
              <a:t>Review the internal policy regarding tier evaluation, notification protocols for status changes, and communication of benefit changes.</a:t>
            </a:r>
          </a:p>
          <a:p>
            <a:pPr algn="l"/>
            <a:r>
              <a:rPr sz="1400">
                <a:solidFill>
                  <a:srgbClr val="333333"/>
                </a:solidFill>
              </a:rPr>
              <a:t>Review the internal policy and process for crediting anniversary bonus points.</a:t>
            </a:r>
          </a:p>
          <a:p>
            <a:pPr algn="l"/>
            <a:r>
              <a:rPr sz="1400">
                <a:solidFill>
                  <a:srgbClr val="333333"/>
                </a:solidFill>
              </a:rPr>
              <a:t>Review the internal policy and operational procedures for points transfers to airline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Theme: Rewards &amp; Loyalty</a:t>
            </a:r>
          </a:p>
        </p:txBody>
      </p:sp>
      <p:sp>
        <p:nvSpPr>
          <p:cNvPr id="3" name="Content Placeholder 2"/>
          <p:cNvSpPr>
            <a:spLocks noGrp="1"/>
          </p:cNvSpPr>
          <p:nvPr>
            <p:ph idx="1"/>
          </p:nvPr>
        </p:nvSpPr>
        <p:spPr/>
        <p:txBody>
          <a:bodyPr/>
          <a:lstStyle/>
          <a:p>
            <a:pPr algn="l"/>
            <a:r>
              <a:rPr sz="1400">
                <a:solidFill>
                  <a:srgbClr val="333333"/>
                </a:solidFill>
              </a:rPr>
              <a:t>Call Count: 16 | Percentage: 3.2% | Preventability: 100.0%</a:t>
            </a:r>
          </a:p>
          <a:p>
            <a:pPr algn="l"/>
            <a:r>
              <a:rPr sz="1400">
                <a:solidFill>
                  <a:srgbClr val="333333"/>
                </a:solidFill>
              </a:rPr>
              <a:t>Priority Score: 7.48 | Quadrant: strategic_investment</a:t>
            </a:r>
          </a:p>
          <a:p>
            <a:pPr algn="l"/>
            <a:r>
              <a:rPr sz="1400">
                <a:solidFill>
                  <a:srgbClr val="333333"/>
                </a:solidFill>
              </a:rPr>
              <a:t>Dominant Driver: digital | Contributing: operations, communication, policy</a:t>
            </a:r>
          </a:p>
          <a:p>
            <a:pPr algn="l"/>
            <a:r>
              <a:rPr sz="1400">
                <a:solidFill>
                  <a:srgbClr val="333333"/>
                </a:solidFill>
              </a:rPr>
              <a:t>### Top Issues and Drivers</a:t>
            </a:r>
          </a:p>
          <a:p>
            <a:pPr algn="l"/>
            <a:r>
              <a:rPr sz="1400">
                <a:solidFill>
                  <a:srgbClr val="333333"/>
                </a:solidFill>
              </a:rPr>
              <a:t>| Issue | Calls | % | Driver | Dimension | Solution |</a:t>
            </a:r>
          </a:p>
          <a:p>
            <a:pPr algn="l"/>
            <a:r>
              <a:rPr sz="1400">
                <a:solidFill>
                  <a:srgbClr val="333333"/>
                </a:solidFill>
              </a:rPr>
              <a:t>|---|---|---|---|---|---|</a:t>
            </a:r>
          </a:p>
          <a:p>
            <a:pPr algn="l"/>
            <a:r>
              <a:rPr sz="1400">
                <a:solidFill>
                  <a:srgbClr val="333333"/>
                </a:solidFill>
              </a:rPr>
              <a:t>| Customer's cashback was posted as points instead of statement credit. They can't find where to change their redemption preference. | 7 | 43.75% | primary | digital | Provide clear, self-service options to manage redemption preferences (points vs. cashback) within the digital experience. |</a:t>
            </a:r>
          </a:p>
          <a:p>
            <a:pPr algn="l"/>
            <a:r>
              <a:rPr sz="1400">
                <a:solidFill>
                  <a:srgbClr val="333333"/>
                </a:solidFill>
              </a:rPr>
              <a:t>| Cashback posted as points instead of statement credit, with no self-service option to change redemption preference. | 7 | 43.8% | primary | operations | Implement a self-service portal for customers to manage and update their rewards redemption preferences (e.g., cashback vs. points) and ensure backend systems honor these choices. |</a:t>
            </a:r>
          </a:p>
          <a:p>
            <a:pPr algn="l"/>
            <a:r>
              <a:rPr sz="1400">
                <a:solidFill>
                  <a:srgbClr val="333333"/>
                </a:solidFill>
              </a:rPr>
              <a:t>| Cashback redemption preference setting is hidden and no default redemption option. | 7 | 43.75% | primary | communication | Move redemption preference to top-level rewards settings (1 tap from dashboard). Add 'Set as default' option. Allow customers to set auto-redemption rules (e.g., auto statement credit every 5,000 points). |</a:t>
            </a:r>
          </a:p>
          <a:p>
            <a:pPr algn="l"/>
            <a:r>
              <a:rPr sz="1400">
                <a:solidFill>
                  <a:srgbClr val="333333"/>
                </a:solidFill>
              </a:rPr>
              <a:t>| Cashback posted as points instead of statement credit; redemption preference unclear | 7 | 43.75% | primary | policy | Implement a clear, self-service digital option for customers to set and manage their preferred redemption method (points vs. statement credit). |</a:t>
            </a:r>
          </a:p>
          <a:p>
            <a:pPr algn="l"/>
            <a:r>
              <a:rPr sz="1400">
                <a:solidFill>
                  <a:srgbClr val="333333"/>
                </a:solidFill>
              </a:rPr>
              <a:t>| Incorrect category bonus application due to merchant miscoding (e.g., gas station coded as convenience store). | 3 | 18.75% | secondary | digital | Implement a feature that shows the merchant category code (MCC) for each transaction and how it maps to bonus categories. Provide an in-app tool to check MCC for a merchant before a purchase. |</a:t>
            </a:r>
          </a:p>
          <a:p>
            <a:pPr algn="l"/>
            <a:r>
              <a:rPr sz="1400">
                <a:solidFill>
                  <a:srgbClr val="333333"/>
                </a:solidFill>
              </a:rPr>
              <a:t>| Incorrect category bonus application due to merchant miscoding (e.g., gas station coded as convenience store). | 3 | 18.8% | secondary | operations | Provide transparency on merchant category code (MCC) mapping to bonus categories and implement a process for customers to dispute incorrect category coding for bonus eligibility. |</a:t>
            </a:r>
          </a:p>
          <a:p>
            <a:pPr algn="l"/>
            <a:r>
              <a:rPr sz="1400">
                <a:solidFill>
                  <a:srgbClr val="333333"/>
                </a:solidFill>
              </a:rPr>
              <a:t>| Merchant category code (MCC) for bonus determination is not visible, and category bonus exclusions are unclear. | 3 | 18.75% | secondary | communication | Show the MCC code and category assigned to each transaction. Allow customers to flag incorrect merchant categorization. Clearly list category bonus exclusions with examples on the rewards earning rules page. |</a:t>
            </a:r>
          </a:p>
          <a:p>
            <a:pPr algn="l"/>
            <a:r>
              <a:rPr sz="1400">
                <a:solidFill>
                  <a:srgbClr val="333333"/>
                </a:solidFill>
              </a:rPr>
              <a:t>| Incorrect category bonus application due to merchant coding (e.g., gas station as convenience store) | 4 | 25.0% | secondary | policy | Provide in-app transparency on merchant category codes (MCCs) and how they map to bonus categories. Offer a tool to simulate earn rates for purchases. |</a:t>
            </a:r>
          </a:p>
          <a:p>
            <a:pPr algn="l"/>
            <a:r>
              <a:rPr sz="1400">
                <a:solidFill>
                  <a:srgbClr val="333333"/>
                </a:solidFill>
              </a:rPr>
              <a:t>| Customer signed up for a 60,000 point welcome bonus offer but only received 40,000 after meeting the spend requirement. | 2 | 12.5% | secondary | digital | Implement an offer tracker with a progress bar and a clear checklist of all qualifying criteria within the digital experience. |</a:t>
            </a:r>
          </a:p>
          <a:p>
            <a:pPr algn="l"/>
            <a:r>
              <a:rPr sz="1400">
                <a:solidFill>
                  <a:srgbClr val="333333"/>
                </a:solidFill>
              </a:rPr>
              <a:t>| Incorrect welcome bonus amount credited after meeting spend requirements. | 2 | 12.5% | secondary | operations | Conduct a thorough audit of the welcome bonus crediting logic to ensure accurate and timely application of promotional offers based on qualifying criteria. |</a:t>
            </a:r>
          </a:p>
          <a:p>
            <a:pPr algn="l"/>
            <a:r>
              <a:rPr sz="1400">
                <a:solidFill>
                  <a:srgbClr val="333333"/>
                </a:solidFill>
              </a:rPr>
              <a:t>| Welcome bonus tracker lacks real-time progress, and bonus terms are in fine print. | 2 | 12.5% | secondary | communication | Add real-time welcome bonus spend tracker on the rewards dashboard with progress bar and days remaining. List qualifying and non-qualifying purchase categories clearly with specific merchant examples. |</a:t>
            </a:r>
          </a:p>
          <a:p>
            <a:pPr algn="l"/>
            <a:r>
              <a:rPr sz="1400">
                <a:solidFill>
                  <a:srgbClr val="333333"/>
                </a:solidFill>
              </a:rPr>
              <a:t>| Welcome bonus points not fully credited after meeting spend requirement | 2 | 12.5% | secondary | policy | Implement an in-app offer tracker with real-time progress towards bonus requirements and a clear explanation of terms and conditions. |</a:t>
            </a:r>
          </a:p>
          <a:p>
            <a:pPr algn="l"/>
            <a:r>
              <a:rPr sz="1400">
                <a:solidFill>
                  <a:srgbClr val="333333"/>
                </a:solidFill>
              </a:rPr>
              <a:t>| Customers are being downgraded in their loyalty tier without any prior warning or notification, leading to unexpected loss of benefits. | 1 | 0.2% | secondary | digital | Implement proactive communication and visibility for upcoming tier status changes within the digital experience. |</a:t>
            </a:r>
          </a:p>
          <a:p>
            <a:pPr algn="l"/>
            <a:r>
              <a:rPr sz="1400">
                <a:solidFill>
                  <a:srgbClr val="333333"/>
                </a:solidFill>
              </a:rPr>
              <a:t>| Customers are being downgraded in their loyalty tier without any prior notification or warning, leading to unexpected loss of benefits. | 1 | 0.2% | secondary | operations | Establish a clear communication protocol for tier changes, including sending proactive notifications (e.g., email, push notifications) to customers well in advance of any downgrade, explaining the reasons and impact. |</a:t>
            </a:r>
          </a:p>
          <a:p>
            <a:pPr algn="l"/>
            <a:r>
              <a:rPr sz="1400">
                <a:solidFill>
                  <a:srgbClr val="333333"/>
                </a:solidFill>
              </a:rPr>
              <a:t>| A customer was downgraded from Platinum to Gold tier without any warning or notification, leading to a surprise loss of benefits. If the customer had received proactive notifications about the potential downgrade, they would not have called. | 1 | 0.2% | secondary | communication | Show a tier progress bar with the exact spend needed for retention/upgrade. Send 90-day and 30-day tier expiry warnings. List all tier benefits clearly with real-time access status (active/at risk). |</a:t>
            </a:r>
          </a:p>
          <a:p>
            <a:pPr algn="l"/>
            <a:r>
              <a:rPr sz="1400">
                <a:solidFill>
                  <a:srgbClr val="333333"/>
                </a:solidFill>
              </a:rPr>
              <a:t>| Customers are being downgraded in their loyalty tier without prior warning or notification, resulting in unexpected loss of benefits like airport lounge access. | 1 | 0.2% | secondary | policy | Review the internal policy regarding tier evaluation, notification protocols for status changes, and communication of benefit changes. |</a:t>
            </a:r>
          </a:p>
          <a:p>
            <a:pPr algn="l"/>
            <a:r>
              <a:rPr sz="1400">
                <a:solidFill>
                  <a:srgbClr val="333333"/>
                </a:solidFill>
              </a:rPr>
              <a:t>| Customers are not receiving their anniversary bonus points, with significant delays after their account anniversary date. | 1 | 0.2% | secondary | digital | Provide visibility into expected and pending bonus point accruals within the digital experience. |</a:t>
            </a:r>
          </a:p>
          <a:p>
            <a:pPr algn="l"/>
            <a:r>
              <a:rPr sz="1400">
                <a:solidFill>
                  <a:srgbClr val="333333"/>
                </a:solidFill>
              </a:rPr>
              <a:t>| Anniversary bonus points are not being credited to customer accounts in a timely manner, with significant delays beyond the account anniversary date. | 1 | 0.2% | secondary | operations | Automate the process for crediting anniversary bonus points to ensure they are posted to customer accounts within a defined and communicated service level agreement (SLA). |</a:t>
            </a:r>
          </a:p>
          <a:p>
            <a:pPr algn="l"/>
            <a:r>
              <a:rPr sz="1400">
                <a:solidFill>
                  <a:srgbClr val="333333"/>
                </a:solidFill>
              </a:rPr>
              <a:t>| A customer's anniversary bonus points from last year haven't been credited, and the anniversary bonus posting timeline is not documented anywhere in the app. If the customer had clear information on the posting timeline and a tracker, they would not have called. | 1 | 0.2% | secondary | communication | Display the anniversary bonus posting timeline and account anniversary date prominently in the rewards section. Send a push notification when the anniversary bonus is credited or if there's a delay. |</a:t>
            </a:r>
          </a:p>
          <a:p>
            <a:pPr algn="l"/>
            <a:r>
              <a:rPr sz="1400">
                <a:solidFill>
                  <a:srgbClr val="333333"/>
                </a:solidFill>
              </a:rPr>
              <a:t>| Anniversary bonus points are not being credited to customer accounts in a timely manner, leading to calls about missing rewards. | 1 | 0.2% | secondary | policy | Review the internal policy and process for crediting anniversary bonus points. |</a:t>
            </a:r>
          </a:p>
          <a:p>
            <a:pPr algn="l"/>
            <a:r>
              <a:rPr sz="1400">
                <a:solidFill>
                  <a:srgbClr val="333333"/>
                </a:solidFill>
              </a:rPr>
              <a:t>| Customers are not receiving expected category bonuses for grocery purchases, with only regular points being applied. | 1 | 0.2% | secondary | digital | Enhance transparency around merchant category codes and their mapping to bonus categories within the digital experience. |</a:t>
            </a:r>
          </a:p>
          <a:p>
            <a:pPr algn="l"/>
            <a:r>
              <a:rPr sz="1400">
                <a:solidFill>
                  <a:srgbClr val="333333"/>
                </a:solidFill>
              </a:rPr>
              <a:t>| A customer made grocery purchases but did not receive the expected category bonus, as the app's category bonus tracking doesn't show which merchants qualify for enhanced earning rates or provide a real-time earn rate preview. If the customer had this visibility, they would not have called. | 1 | 0.2% | secondary | communication | Show a merchant earning rate preview on each transaction. Display bonus category progress on the main rewards dashboard. Add a real-time earn rate indicator on transaction detail screens with a qualifying merchant badge. |</a:t>
            </a:r>
          </a:p>
          <a:p>
            <a:pPr algn="l"/>
            <a:r>
              <a:rPr sz="1400">
                <a:solidFill>
                  <a:srgbClr val="333333"/>
                </a:solidFill>
              </a:rPr>
              <a:t>| Customers are experiencing delays and lack of visibility when transferring points to airline partners, leading to uncertainty about the transfer status. | 1 | 0.2% | secondary | digital | Implement a digital tracking mechanism for points transfers to external partners. |</a:t>
            </a:r>
          </a:p>
          <a:p>
            <a:pPr algn="l"/>
            <a:r>
              <a:rPr sz="1400">
                <a:solidFill>
                  <a:srgbClr val="333333"/>
                </a:solidFill>
              </a:rPr>
              <a:t>| Points transfers to airline partners are experiencing significant delays, with points not appearing in the partner's frequent flyer account within the expected timeframe. | 1 | 0.2% | secondary | operations | Review and optimize the integration and data exchange processes with airline partners to ensure points transfers are processed and reflected in partner accounts within a clear and competitive SLA. |</a:t>
            </a:r>
          </a:p>
          <a:p>
            <a:pPr algn="l"/>
            <a:r>
              <a:rPr sz="1400">
                <a:solidFill>
                  <a:srgbClr val="333333"/>
                </a:solidFill>
              </a:rPr>
              <a:t>| A customer transferred points to an airline partner, but the status shows 'Processing' with no estimated completion time or confirmation from the partner program. If the customer had an estimated completion time and partner confirmation, they would not have called. | 1 | 0.2% | secondary | communication | Show estimated partner transfer completion time and partner program confirmation. Add a transfer tracker. Display a clear irreversibility warning with partner program terms before confirming the transfer. |</a:t>
            </a:r>
          </a:p>
          <a:p>
            <a:pPr algn="l"/>
            <a:r>
              <a:rPr sz="1400">
                <a:solidFill>
                  <a:srgbClr val="333333"/>
                </a:solidFill>
              </a:rPr>
              <a:t>| Points transferred to airline partners are experiencing delays or not appearing in the partner's frequent flyer account, causing customer concern and calls. | 1 | 0.2% | secondary | policy | Review the internal policy and operational procedures for points transfers to airline partners. |</a:t>
            </a:r>
          </a:p>
          <a:p>
            <a:pPr algn="l"/>
            <a:r>
              <a:rPr sz="1400">
                <a:solidFill>
                  <a:srgbClr val="333333"/>
                </a:solidFill>
              </a:rPr>
              <a:t>### Quick Wins</a:t>
            </a:r>
          </a:p>
          <a:p>
            <a:pPr algn="l"/>
            <a:r>
              <a:rPr sz="1400">
                <a:solidFill>
                  <a:srgbClr val="333333"/>
                </a:solidFill>
              </a:rPr>
              <a:t>Develop a clear and easily discoverable section in the digital experience (mobile app and web) where customers can view and modify their rewards redemption preferences (e.g., points vs. cashback).</a:t>
            </a:r>
          </a:p>
          <a:p>
            <a:pPr algn="l"/>
            <a:r>
              <a:rPr sz="1400">
                <a:solidFill>
                  <a:srgbClr val="333333"/>
                </a:solidFill>
              </a:rPr>
              <a:t>Implement an 'Offer Tracker' in the app/web dashboard showing a progress bar towards meeting spend requirements, a clear checklist of all qualifying criteria, and an estimated bonus posting date.</a:t>
            </a:r>
          </a:p>
          <a:p>
            <a:pPr algn="l"/>
            <a:r>
              <a:rPr sz="1400">
                <a:solidFill>
                  <a:srgbClr val="333333"/>
                </a:solidFill>
              </a:rPr>
              <a:t>Provide 60-day advance warning notifications (in-app, email, push) for impending tier downgrades. Display current tier status, qualification progress, and a comparison of benefits for different tiers in the app.</a:t>
            </a:r>
          </a:p>
          <a:p>
            <a:pPr algn="l"/>
            <a:r>
              <a:rPr sz="1400">
                <a:solidFill>
                  <a:srgbClr val="333333"/>
                </a:solidFill>
              </a:rPr>
              <a:t>Add an 'Expected Bonuses' section to the rewards dashboard, listing upcoming anniversary bonuses with their estimated posting dates.</a:t>
            </a:r>
          </a:p>
          <a:p>
            <a:pPr algn="l"/>
            <a:r>
              <a:rPr sz="1400">
                <a:solidFill>
                  <a:srgbClr val="333333"/>
                </a:solidFill>
              </a:rPr>
              <a:t>Add a 'Points Transfer Tracker' in the rewards section of the app/web, showing the status (e.g., 'Pending', 'Completed'), estimated arrival time, and partner account details for all initiated transfers.</a:t>
            </a:r>
          </a:p>
          <a:p>
            <a:pPr algn="l"/>
            <a:r>
              <a:rPr sz="1400">
                <a:solidFill>
                  <a:srgbClr val="333333"/>
                </a:solidFill>
              </a:rPr>
              <a:t>Develop and integrate a system that automatically triggers pre-downgrade notifications based on defined tier evaluation periods and customer activity, ensuring timely communication.</a:t>
            </a:r>
          </a:p>
          <a:p>
            <a:pPr algn="l"/>
            <a:r>
              <a:rPr sz="1400">
                <a:solidFill>
                  <a:srgbClr val="333333"/>
                </a:solidFill>
              </a:rPr>
              <a:t>Implement a scheduled job or real-time trigger in the rewards system to automatically credit anniversary bonus points on the account anniversary date, with monitoring for successful execution.</a:t>
            </a:r>
          </a:p>
          <a:p>
            <a:pPr algn="l"/>
            <a:r>
              <a:rPr sz="1400">
                <a:solidFill>
                  <a:srgbClr val="333333"/>
                </a:solidFill>
              </a:rPr>
              <a:t>Move cashback redemption preference setting to a prominent, easily accessible location (e.g., top-level rewards settings). Add a 'Set as default' option and allow customers to set auto-redemption rules (e.g., auto statement credit every 5,000 points).</a:t>
            </a:r>
          </a:p>
          <a:p>
            <a:pPr algn="l"/>
            <a:r>
              <a:rPr sz="1400">
                <a:solidFill>
                  <a:srgbClr val="333333"/>
                </a:solidFill>
              </a:rPr>
              <a:t>Filters Applied:</a:t>
            </a:r>
          </a:p>
          <a:p>
            <a:pPr algn="l"/>
            <a:r>
              <a:rPr sz="1400">
                <a:solidFill>
                  <a:srgbClr val="333333"/>
                </a:solidFill>
              </a:rPr>
              <a:t>Call Reason: Rewards &amp; Loyalty</a:t>
            </a:r>
          </a:p>
          <a:p>
            <a:pPr algn="l"/>
            <a:r>
              <a:rPr sz="1400">
                <a:solidFill>
                  <a:srgbClr val="333333"/>
                </a:solidFill>
              </a:rPr>
              <a:t>Product: ATT</a:t>
            </a:r>
          </a:p>
          <a:p>
            <a:pPr algn="l"/>
            <a:r>
              <a:rPr sz="1400">
                <a:solidFill>
                  <a:srgbClr val="333333"/>
                </a:solidFill>
              </a:rPr>
              <a:t>Methodology Notes:</a:t>
            </a:r>
          </a:p>
          <a:p>
            <a:pPr algn="l"/>
            <a:r>
              <a:rPr sz="1400">
                <a:solidFill>
                  <a:srgbClr val="333333"/>
                </a:solidFill>
              </a:rPr>
              <a:t>Multi-lens analysis across digital, operations, communication, and policy dimensions was conducted to identify friction points and their underlying causes.</a:t>
            </a:r>
          </a:p>
          <a:p>
            <a:pPr algn="l"/>
            <a:r>
              <a:rPr sz="1400">
                <a:solidFill>
                  <a:srgbClr val="333333"/>
                </a:solidFill>
              </a:rPr>
              <a:t>Data Source Summary:</a:t>
            </a:r>
          </a:p>
          <a:p>
            <a:pPr algn="l"/>
            <a:r>
              <a:rPr sz="1400">
                <a:solidFill>
                  <a:srgbClr val="333333"/>
                </a:solidFill>
              </a:rPr>
              <a:t>The analysis was performed on a filtered dataset of 16 calls related to Rewards &amp; Loyalty for ATT customers.</a:t>
            </a:r>
          </a:p>
          <a:p>
            <a:pPr algn="l"/>
            <a:r>
              <a:rPr sz="1400">
                <a:solidFill>
                  <a:srgbClr val="333333"/>
                </a:solidFill>
              </a:rPr>
              <a:t>Report generated by AgenticAnalytics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