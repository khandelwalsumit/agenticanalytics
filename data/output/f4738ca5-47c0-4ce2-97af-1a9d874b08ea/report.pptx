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  <p:sldId id="1527" r:id="rId2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Analysis of 16 friction-related customer calls across 3 themes.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06BA6"/>
                </a:solidFill>
                <a:latin typeface="Calibri"/>
              </a:rPr>
              <a:t>50%</a:t>
            </a:r>
            <a:r>
              <a:rPr sz="1300" b="0">
                <a:solidFill>
                  <a:srgbClr val="444444"/>
                </a:solidFill>
                <a:latin typeface="Calibri"/>
              </a:rPr>
              <a:t> of total volume is deflectable with easy implementations.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Quick Wins: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6BA6"/>
                </a:solidFill>
                <a:latin typeface="Calibri"/>
              </a:rPr>
              <a:t>Implement a real-time transfer status tracker in the app for partner points, showing estimated completion.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6BA6"/>
                </a:solidFill>
                <a:latin typeface="Calibri"/>
              </a:rPr>
              <a:t>Add an in-app promotional offer tracker with progress bar and clear eligibility criteria.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6BA6"/>
                </a:solidFill>
                <a:latin typeface="Calibri"/>
              </a:rPr>
              <a:t>Display 'pending points' view in the rewards dashboard with estimated posting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Critical 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868680"/>
            <a:ext cx="54864" cy="3657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" y="868680"/>
            <a:ext cx="2459736" cy="3657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9601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B70"/>
                </a:solidFill>
                <a:latin typeface="Calibri"/>
              </a:rPr>
              <a:t>Customers are not seeing promotional points or regular points credited to their account and lack visibility into pending points or promotion progress.</a:t>
            </a:r>
            <a:r>
              <a:rPr sz="1200" b="0">
                <a:solidFill>
                  <a:srgbClr val="003B70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" y="128016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Impact: 9.0 | Priority: 9.0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8" y="1508760"/>
            <a:ext cx="2176272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" y="1600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Issue: </a:t>
            </a:r>
            <a:r>
              <a:rPr sz="1000" b="0">
                <a:solidFill>
                  <a:srgbClr val="222222"/>
                </a:solidFill>
                <a:latin typeface="Calibri"/>
              </a:rPr>
              <a:t>Customers are not seeing promotional points or regular points credited to their account and lack visibility into pending points or promotion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" y="260604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Fix: </a:t>
            </a:r>
            <a:r>
              <a:rPr sz="1000" b="0">
                <a:solidFill>
                  <a:srgbClr val="222222"/>
                </a:solidFill>
                <a:latin typeface="Calibri"/>
              </a:rPr>
              <a:t>Add a 'pending points' section to the rewards dashboard and a promotional offer tracker showing progress towards earning bonuses. Clearly display earn rates per transaction and explain any exclusions </a:t>
            </a:r>
            <a:r>
              <a:rPr sz="900" b="1">
                <a:solidFill>
                  <a:srgbClr val="006BA6"/>
                </a:solidFill>
                <a:latin typeface="Calibri"/>
              </a:rPr>
              <a:t>(Digital)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4700" y="868680"/>
            <a:ext cx="54864" cy="3657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9564" y="868680"/>
            <a:ext cx="2459736" cy="3657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5868" y="9601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B70"/>
                </a:solidFill>
                <a:latin typeface="Calibri"/>
              </a:rPr>
              <a:t>Customers are calling due to delays in partner rewards transfers and lack of visibility into the transfer status.</a:t>
            </a:r>
            <a:r>
              <a:rPr sz="1200" b="0">
                <a:solidFill>
                  <a:srgbClr val="003B70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128016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Impact: 8.0 | Priority: 8.0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15868" y="1508760"/>
            <a:ext cx="2176272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1600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Issue: </a:t>
            </a:r>
            <a:r>
              <a:rPr sz="1000" b="0">
                <a:solidFill>
                  <a:srgbClr val="222222"/>
                </a:solidFill>
                <a:latin typeface="Calibri"/>
              </a:rPr>
              <a:t>Customers are calling due to delays in partner rewards transfers and lack of visibility into the transfer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60604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Fix: </a:t>
            </a:r>
            <a:r>
              <a:rPr sz="1000" b="0">
                <a:solidFill>
                  <a:srgbClr val="222222"/>
                </a:solidFill>
                <a:latin typeface="Calibri"/>
              </a:rPr>
              <a:t>Implement a real-time transfer tracker in the app/web, showing current status and estimated completion time. Proactively communicate expected transfer timelines. </a:t>
            </a:r>
            <a:r>
              <a:rPr sz="900" b="1">
                <a:solidFill>
                  <a:srgbClr val="006BA6"/>
                </a:solidFill>
                <a:latin typeface="Calibri"/>
              </a:rPr>
              <a:t>(Digital)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7900" y="86868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2764" y="868680"/>
            <a:ext cx="2459736" cy="3657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9068" y="96012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B70"/>
                </a:solidFill>
                <a:latin typeface="Calibri"/>
              </a:rPr>
              <a:t>Customers are frustrated by high redemption minimums that are not clearly communicated before they attempt to redeem.</a:t>
            </a:r>
            <a:r>
              <a:rPr sz="1200" b="0">
                <a:solidFill>
                  <a:srgbClr val="003B70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068" y="128016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Impact: 7.0 | Priority: 7.0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508760"/>
            <a:ext cx="2176272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9068" y="1600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Issue: </a:t>
            </a:r>
            <a:r>
              <a:rPr sz="1000" b="0">
                <a:solidFill>
                  <a:srgbClr val="222222"/>
                </a:solidFill>
                <a:latin typeface="Calibri"/>
              </a:rPr>
              <a:t>Customers are frustrated by high redemption minimums that are not clearly communicated before they attempt to redeem.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260604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Fix: </a:t>
            </a:r>
            <a:r>
              <a:rPr sz="1000" b="0">
                <a:solidFill>
                  <a:srgbClr val="222222"/>
                </a:solidFill>
                <a:latin typeface="Calibri"/>
              </a:rPr>
              <a:t>Prominently display minimum redemption thresholds on the rewards dashboard and within the redemption flow before a customer initiates the process. </a:t>
            </a:r>
            <a:r>
              <a:rPr sz="900" b="1">
                <a:solidFill>
                  <a:srgbClr val="006BA6"/>
                </a:solidFill>
                <a:latin typeface="Calibri"/>
              </a:rPr>
              <a:t>(Digital)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Impact vs. Ease — Full Theme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003B70"/>
                </a:solidFill>
                <a:latin typeface="Calibri"/>
              </a:rPr>
              <a:t>System Bug/Outage</a:t>
            </a:r>
            <a:r>
              <a:rPr sz="1100" b="0">
                <a:solidFill>
                  <a:srgbClr val="888888"/>
                </a:solidFill>
                <a:latin typeface="Calibri"/>
              </a:rPr>
              <a:t> — Quick Win</a:t>
            </a:r>
          </a:p>
          <a:p>
            <a:pPr>
              <a:spcAft>
                <a:spcPts val="600"/>
              </a:spcAft>
            </a:pPr>
            <a:r>
              <a:rPr sz="900" b="0">
                <a:solidFill>
                  <a:srgbClr val="888888"/>
                </a:solidFill>
                <a:latin typeface="Calibri"/>
              </a:rPr>
              <a:t>Calls: 7 | Impact: 9.0 | Ease: 7.0 | Priority: 8.2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3B70"/>
                </a:solidFill>
                <a:latin typeface="Calibri"/>
              </a:rPr>
              <a:t>Rewards &amp; Loyalty</a:t>
            </a:r>
            <a:r>
              <a:rPr sz="1100" b="0">
                <a:solidFill>
                  <a:srgbClr val="888888"/>
                </a:solidFill>
                <a:latin typeface="Calibri"/>
              </a:rPr>
              <a:t> — Quick Win</a:t>
            </a:r>
          </a:p>
          <a:p>
            <a:pPr>
              <a:spcAft>
                <a:spcPts val="600"/>
              </a:spcAft>
            </a:pPr>
            <a:r>
              <a:rPr sz="900" b="0">
                <a:solidFill>
                  <a:srgbClr val="888888"/>
                </a:solidFill>
                <a:latin typeface="Calibri"/>
              </a:rPr>
              <a:t>Calls: 16 | Impact: 8.0 | Ease: 7.2 | Priority: 7.7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03B70"/>
                </a:solidFill>
                <a:latin typeface="Calibri"/>
              </a:rPr>
              <a:t>Other</a:t>
            </a:r>
            <a:r>
              <a:rPr sz="1100" b="0">
                <a:solidFill>
                  <a:srgbClr val="888888"/>
                </a:solidFill>
                <a:latin typeface="Calibri"/>
              </a:rPr>
              <a:t> — Quick Win</a:t>
            </a:r>
          </a:p>
          <a:p>
            <a:pPr>
              <a:spcAft>
                <a:spcPts val="600"/>
              </a:spcAft>
            </a:pPr>
            <a:r>
              <a:rPr sz="900" b="0">
                <a:solidFill>
                  <a:srgbClr val="888888"/>
                </a:solidFill>
                <a:latin typeface="Calibri"/>
              </a:rPr>
              <a:t>Calls: 4 | Impact: 8.0 | Ease: 7.0 | Priority: 7.6</a:t>
            </a:r>
          </a:p>
        </p:txBody>
      </p:sp>
      <p:pic>
        <p:nvPicPr>
          <p:cNvPr id="7" name="Picture 6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777240"/>
            <a:ext cx="3200400" cy="2114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Low Hanging Fruit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6BA6"/>
                </a:solidFill>
                <a:latin typeface="Calibri"/>
              </a:rPr>
              <a:t>1. Implement a 'pending points' section on the rewards dashboard and a promotional offer tracker.</a:t>
            </a:r>
          </a:p>
          <a:p>
            <a:r>
              <a:rPr sz="1100" b="0">
                <a:solidFill>
                  <a:srgbClr val="222222"/>
                </a:solidFill>
                <a:latin typeface="Calibri"/>
              </a:rPr>
              <a:t>    Implement a real-time transfer tracker in the app/web with status and estimated ; Prominently display minimum redemption thresholds on the rewards dashboard and w</a:t>
            </a:r>
          </a:p>
          <a:p>
            <a:r>
              <a:rPr sz="1000" b="0">
                <a:solidFill>
                  <a:srgbClr val="888888"/>
                </a:solidFill>
                <a:latin typeface="Calibri"/>
              </a:rPr>
              <a:t>    Resolves ~16 calls from Rewards &amp; Loyalty</a:t>
            </a:r>
          </a:p>
          <a:p/>
          <a:p>
            <a:r>
              <a:rPr sz="1300" b="1">
                <a:solidFill>
                  <a:srgbClr val="006BA6"/>
                </a:solidFill>
                <a:latin typeface="Calibri"/>
              </a:rPr>
              <a:t>2. Implement a real-time transfer status tracker in the app for partner points, showing estimated completion.</a:t>
            </a:r>
          </a:p>
          <a:p>
            <a:r>
              <a:rPr sz="1100" b="0">
                <a:solidFill>
                  <a:srgbClr val="222222"/>
                </a:solidFill>
                <a:latin typeface="Calibri"/>
              </a:rPr>
              <a:t>    Add an in-app promotional offer tracker with progress bar and clear eligibility ; Display 'pending points' view in the rewards dashboard with estimated posting da</a:t>
            </a:r>
          </a:p>
          <a:p>
            <a:r>
              <a:rPr sz="1000" b="0">
                <a:solidFill>
                  <a:srgbClr val="888888"/>
                </a:solidFill>
                <a:latin typeface="Calibri"/>
              </a:rPr>
              <a:t>    Resolves ~7 calls from System Bug/Outage</a:t>
            </a:r>
          </a:p>
          <a:p/>
          <a:p>
            <a:r>
              <a:rPr sz="1300" b="1">
                <a:solidFill>
                  <a:srgbClr val="006BA6"/>
                </a:solidFill>
                <a:latin typeface="Calibri"/>
              </a:rPr>
              <a:t>3. Clearly display redemption minimums and options for partial redemption or alternatives in the rewards section.</a:t>
            </a:r>
          </a:p>
          <a:p>
            <a:r>
              <a:rPr sz="1100" b="0">
                <a:solidFill>
                  <a:srgbClr val="222222"/>
                </a:solidFill>
                <a:latin typeface="Calibri"/>
              </a:rPr>
              <a:t>    Implement an in-app bonus tracker or detailed transaction view showing how point; Add a 'Transfer History' section with real-time status updates and estimated com</a:t>
            </a:r>
          </a:p>
          <a:p>
            <a:r>
              <a:rPr sz="1000" b="0">
                <a:solidFill>
                  <a:srgbClr val="888888"/>
                </a:solidFill>
                <a:latin typeface="Calibri"/>
              </a:rPr>
              <a:t>    Resolves ~4 calls from Other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Recommended Actions by Owning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68680"/>
            <a:ext cx="3794760" cy="187451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868680"/>
            <a:ext cx="45720" cy="1874519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601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6BA6"/>
                </a:solidFill>
                <a:latin typeface="Calibri"/>
              </a:rPr>
              <a:t>■ </a:t>
            </a:r>
            <a:r>
              <a:rPr sz="1300" b="1">
                <a:solidFill>
                  <a:srgbClr val="003B70"/>
                </a:solidFill>
                <a:latin typeface="Calibri"/>
              </a:rPr>
              <a:t>Digital /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222222"/>
                </a:solidFill>
                <a:latin typeface="Calibri"/>
              </a:rPr>
              <a:t>• Add a 'pending points' section to the rewards dashboard and a promotional offer tracker showing progress towards earning bonuses. Clearly display earn rates per transaction and explain any exclusions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22222"/>
                </a:solidFill>
                <a:latin typeface="Calibri"/>
              </a:rPr>
              <a:t>• Implement a real-time transfer tracker in the app/web, showing current status and estimated completion time. Proactively communicate expected transfer timelines.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System Bug/Outage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Calls: 7  |  0.4%  |  Impact: 9.0  |  Ease: 7.0  |  Priority: 8.2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CORE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System Bug/Outage friction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PRIMARY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1. </a:t>
            </a:r>
            <a:r>
              <a:rPr sz="1100" b="0">
                <a:solidFill>
                  <a:srgbClr val="222222"/>
                </a:solidFill>
                <a:latin typeface="Calibri"/>
              </a:rPr>
              <a:t>Implement a real-time transfer status tracker in the app for partner points, showing estimated completion.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2. </a:t>
            </a:r>
            <a:r>
              <a:rPr sz="1100" b="0">
                <a:solidFill>
                  <a:srgbClr val="222222"/>
                </a:solidFill>
                <a:latin typeface="Calibri"/>
              </a:rPr>
              <a:t>Add an in-app promotional offer tracker with progress bar and clear eligibility criteria.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3. </a:t>
            </a:r>
            <a:r>
              <a:rPr sz="1100" b="0">
                <a:solidFill>
                  <a:srgbClr val="222222"/>
                </a:solidFill>
                <a:latin typeface="Calibri"/>
              </a:rPr>
              <a:t>Display 'pending points' view in the rewards dashboard with estimated posting dates.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868680"/>
          <a:ext cx="3291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Partner Transfer Delay (digital, 3 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Promotional Points Missing (digital, 2 calls)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Points Not Credited (digital, 1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Redemption Minimum Too High (digital, 1 call)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Rewards &amp; Loyalty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Calls: 16  |  1.0%  |  Impact: 8.0  |  Ease: 7.2  |  Priority: 7.7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CORE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Rewards &amp; Loyalty friction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PRIMARY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1. </a:t>
            </a:r>
            <a:r>
              <a:rPr sz="1100" b="0">
                <a:solidFill>
                  <a:srgbClr val="222222"/>
                </a:solidFill>
                <a:latin typeface="Calibri"/>
              </a:rPr>
              <a:t>Implement a 'pending points' section on the rewards dashboard and a promotional offer tracker.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2. </a:t>
            </a:r>
            <a:r>
              <a:rPr sz="1100" b="0">
                <a:solidFill>
                  <a:srgbClr val="222222"/>
                </a:solidFill>
                <a:latin typeface="Calibri"/>
              </a:rPr>
              <a:t>Implement a real-time transfer tracker in the app/web with status and estimated completion.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3. </a:t>
            </a:r>
            <a:r>
              <a:rPr sz="1100" b="0">
                <a:solidFill>
                  <a:srgbClr val="222222"/>
                </a:solidFill>
                <a:latin typeface="Calibri"/>
              </a:rPr>
              <a:t>Prominently display minimum redemption thresholds on the rewards dashboard and within the redemption flow.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868680"/>
          <a:ext cx="32918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Lack of visibility/tracking for points (pending,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Partner Transfer Delay (lack of tracking/visibilit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Redemption Minimum Too High (lack of eligibility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Category Bonus Not Applied (lack of earn rate visi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Tier Downgrade Surprise (lack of awareness/visibil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70"/>
                </a:solidFill>
                <a:latin typeface="Calibri"/>
              </a:rPr>
              <a:t>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Calls: 4  |  0.2%  |  Impact: 8.0  |  Ease: 7.0  |  Priority: 7.6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CORE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Other friction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PRIMARY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A6"/>
                </a:solidFill>
                <a:latin typeface="Calibri"/>
              </a:rPr>
              <a:t>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1. </a:t>
            </a:r>
            <a:r>
              <a:rPr sz="1100" b="0">
                <a:solidFill>
                  <a:srgbClr val="222222"/>
                </a:solidFill>
                <a:latin typeface="Calibri"/>
              </a:rPr>
              <a:t>Clearly display redemption minimums and options for partial redemption or alternatives in the rewards section.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2. </a:t>
            </a:r>
            <a:r>
              <a:rPr sz="1100" b="0">
                <a:solidFill>
                  <a:srgbClr val="222222"/>
                </a:solidFill>
                <a:latin typeface="Calibri"/>
              </a:rPr>
              <a:t>Implement an in-app bonus tracker or detailed transaction view showing how points were calculated, including category bonuses.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3. </a:t>
            </a:r>
            <a:r>
              <a:rPr sz="1100" b="0">
                <a:solidFill>
                  <a:srgbClr val="222222"/>
                </a:solidFill>
                <a:latin typeface="Calibri"/>
              </a:rPr>
              <a:t>Add a 'Transfer History' section with real-time status updates and estimated completion times for partner transfers. </a:t>
            </a:r>
            <a:r>
              <a:rPr sz="900" b="1">
                <a:solidFill>
                  <a:srgbClr val="006BA6"/>
                </a:solidFill>
                <a:latin typeface="Calibri"/>
              </a:rPr>
              <a:t>[Digital]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868680"/>
          <a:ext cx="3291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Redemption Minimum Too High (digital, 1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Category Bonus Not Applied (digital, 1 call)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Partner Transfer Delay (digital, 1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Points Not Credited (digital, 1 call)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